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Raleway" charset="1" panose="00000000000000000000"/>
      <p:regular r:id="rId27"/>
    </p:embeddedFont>
    <p:embeddedFont>
      <p:font typeface="Raleway Medium" charset="1" panose="00000000000000000000"/>
      <p:regular r:id="rId28"/>
    </p:embeddedFont>
    <p:embeddedFont>
      <p:font typeface="Raleway Bold" charset="1" panose="00000000000000000000"/>
      <p:regular r:id="rId29"/>
    </p:embeddedFont>
    <p:embeddedFont>
      <p:font typeface="Open Sans Bold" charset="1" panose="00000000000000000000"/>
      <p:regular r:id="rId30"/>
    </p:embeddedFont>
    <p:embeddedFont>
      <p:font typeface="Open Sans" charset="1" panose="00000000000000000000"/>
      <p:regular r:id="rId31"/>
    </p:embeddedFont>
    <p:embeddedFont>
      <p:font typeface="Raleway Semi-Bold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38041" y="-783256"/>
            <a:ext cx="11853512" cy="11853512"/>
          </a:xfrm>
          <a:custGeom>
            <a:avLst/>
            <a:gdLst/>
            <a:ahLst/>
            <a:cxnLst/>
            <a:rect r="r" b="b" t="t" l="l"/>
            <a:pathLst>
              <a:path h="11853512" w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5907" y="1841523"/>
            <a:ext cx="7913236" cy="6603955"/>
          </a:xfrm>
          <a:custGeom>
            <a:avLst/>
            <a:gdLst/>
            <a:ahLst/>
            <a:cxnLst/>
            <a:rect r="r" b="b" t="t" l="l"/>
            <a:pathLst>
              <a:path h="6603955" w="7913236">
                <a:moveTo>
                  <a:pt x="0" y="0"/>
                </a:moveTo>
                <a:lnTo>
                  <a:pt x="7913236" y="0"/>
                </a:lnTo>
                <a:lnTo>
                  <a:pt x="7913236" y="6603954"/>
                </a:lnTo>
                <a:lnTo>
                  <a:pt x="0" y="66039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437181" y="0"/>
            <a:ext cx="5607699" cy="1404647"/>
          </a:xfrm>
          <a:custGeom>
            <a:avLst/>
            <a:gdLst/>
            <a:ahLst/>
            <a:cxnLst/>
            <a:rect r="r" b="b" t="t" l="l"/>
            <a:pathLst>
              <a:path h="1404647" w="5607699">
                <a:moveTo>
                  <a:pt x="0" y="0"/>
                </a:moveTo>
                <a:lnTo>
                  <a:pt x="5607700" y="0"/>
                </a:lnTo>
                <a:lnTo>
                  <a:pt x="5607700" y="1404647"/>
                </a:lnTo>
                <a:lnTo>
                  <a:pt x="0" y="140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200" y="2353085"/>
            <a:ext cx="9179504" cy="35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999"/>
              </a:lnSpc>
            </a:pPr>
            <a:r>
              <a:rPr lang="en-US" sz="9999" spc="-4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Proyecto “Edificio el Mirador”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8534397"/>
            <a:ext cx="9179504" cy="106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 spc="-138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Bastian Cisternas</a:t>
            </a:r>
          </a:p>
          <a:p>
            <a:pPr algn="l">
              <a:lnSpc>
                <a:spcPts val="2700"/>
              </a:lnSpc>
            </a:pPr>
            <a:r>
              <a:rPr lang="en-US" sz="3000" spc="-138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Nahuel Bustos</a:t>
            </a:r>
          </a:p>
          <a:p>
            <a:pPr algn="l" marL="0" indent="0" lvl="1">
              <a:lnSpc>
                <a:spcPts val="2700"/>
              </a:lnSpc>
            </a:pPr>
            <a:r>
              <a:rPr lang="en-US" b="true" sz="3000" spc="-138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Javiera Olivares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5934484"/>
            <a:ext cx="9179504" cy="3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</a:pPr>
            <a:r>
              <a:rPr lang="en-US" b="true" sz="3000" spc="-138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Ingeniería de Software | SQY1102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1374" y="4016157"/>
            <a:ext cx="5006522" cy="217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79"/>
              </a:lnSpc>
            </a:pPr>
            <a:r>
              <a:rPr lang="en-US" b="true" sz="6199" spc="-285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Integrantes, roles y tipo de organización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62217" y="7306125"/>
            <a:ext cx="7658323" cy="2434223"/>
            <a:chOff x="0" y="0"/>
            <a:chExt cx="3023762" cy="9611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23762" cy="961113"/>
            </a:xfrm>
            <a:custGeom>
              <a:avLst/>
              <a:gdLst/>
              <a:ahLst/>
              <a:cxnLst/>
              <a:rect r="r" b="b" t="t" l="l"/>
              <a:pathLst>
                <a:path h="961113" w="3023762">
                  <a:moveTo>
                    <a:pt x="8087" y="0"/>
                  </a:moveTo>
                  <a:lnTo>
                    <a:pt x="3015675" y="0"/>
                  </a:lnTo>
                  <a:cubicBezTo>
                    <a:pt x="3017820" y="0"/>
                    <a:pt x="3019877" y="852"/>
                    <a:pt x="3021394" y="2369"/>
                  </a:cubicBezTo>
                  <a:cubicBezTo>
                    <a:pt x="3022910" y="3885"/>
                    <a:pt x="3023762" y="5942"/>
                    <a:pt x="3023762" y="8087"/>
                  </a:cubicBezTo>
                  <a:lnTo>
                    <a:pt x="3023762" y="953026"/>
                  </a:lnTo>
                  <a:cubicBezTo>
                    <a:pt x="3023762" y="955170"/>
                    <a:pt x="3022910" y="957228"/>
                    <a:pt x="3021394" y="958744"/>
                  </a:cubicBezTo>
                  <a:cubicBezTo>
                    <a:pt x="3019877" y="960261"/>
                    <a:pt x="3017820" y="961113"/>
                    <a:pt x="3015675" y="961113"/>
                  </a:cubicBezTo>
                  <a:lnTo>
                    <a:pt x="8087" y="961113"/>
                  </a:lnTo>
                  <a:cubicBezTo>
                    <a:pt x="5942" y="961113"/>
                    <a:pt x="3885" y="960261"/>
                    <a:pt x="2369" y="958744"/>
                  </a:cubicBezTo>
                  <a:cubicBezTo>
                    <a:pt x="852" y="957228"/>
                    <a:pt x="0" y="955170"/>
                    <a:pt x="0" y="953026"/>
                  </a:cubicBezTo>
                  <a:lnTo>
                    <a:pt x="0" y="8087"/>
                  </a:lnTo>
                  <a:cubicBezTo>
                    <a:pt x="0" y="5942"/>
                    <a:pt x="852" y="3885"/>
                    <a:pt x="2369" y="2369"/>
                  </a:cubicBezTo>
                  <a:cubicBezTo>
                    <a:pt x="3885" y="852"/>
                    <a:pt x="5942" y="0"/>
                    <a:pt x="8087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23762" cy="999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62217" y="4381716"/>
            <a:ext cx="7658323" cy="2434223"/>
            <a:chOff x="0" y="0"/>
            <a:chExt cx="3023762" cy="961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23762" cy="961113"/>
            </a:xfrm>
            <a:custGeom>
              <a:avLst/>
              <a:gdLst/>
              <a:ahLst/>
              <a:cxnLst/>
              <a:rect r="r" b="b" t="t" l="l"/>
              <a:pathLst>
                <a:path h="961113" w="3023762">
                  <a:moveTo>
                    <a:pt x="8087" y="0"/>
                  </a:moveTo>
                  <a:lnTo>
                    <a:pt x="3015675" y="0"/>
                  </a:lnTo>
                  <a:cubicBezTo>
                    <a:pt x="3017820" y="0"/>
                    <a:pt x="3019877" y="852"/>
                    <a:pt x="3021394" y="2369"/>
                  </a:cubicBezTo>
                  <a:cubicBezTo>
                    <a:pt x="3022910" y="3885"/>
                    <a:pt x="3023762" y="5942"/>
                    <a:pt x="3023762" y="8087"/>
                  </a:cubicBezTo>
                  <a:lnTo>
                    <a:pt x="3023762" y="953026"/>
                  </a:lnTo>
                  <a:cubicBezTo>
                    <a:pt x="3023762" y="955170"/>
                    <a:pt x="3022910" y="957228"/>
                    <a:pt x="3021394" y="958744"/>
                  </a:cubicBezTo>
                  <a:cubicBezTo>
                    <a:pt x="3019877" y="960261"/>
                    <a:pt x="3017820" y="961113"/>
                    <a:pt x="3015675" y="961113"/>
                  </a:cubicBezTo>
                  <a:lnTo>
                    <a:pt x="8087" y="961113"/>
                  </a:lnTo>
                  <a:cubicBezTo>
                    <a:pt x="5942" y="961113"/>
                    <a:pt x="3885" y="960261"/>
                    <a:pt x="2369" y="958744"/>
                  </a:cubicBezTo>
                  <a:cubicBezTo>
                    <a:pt x="852" y="957228"/>
                    <a:pt x="0" y="955170"/>
                    <a:pt x="0" y="953026"/>
                  </a:cubicBezTo>
                  <a:lnTo>
                    <a:pt x="0" y="8087"/>
                  </a:lnTo>
                  <a:cubicBezTo>
                    <a:pt x="0" y="5942"/>
                    <a:pt x="852" y="3885"/>
                    <a:pt x="2369" y="2369"/>
                  </a:cubicBezTo>
                  <a:cubicBezTo>
                    <a:pt x="3885" y="852"/>
                    <a:pt x="5942" y="0"/>
                    <a:pt x="8087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23762" cy="999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2217" y="1410484"/>
            <a:ext cx="7658323" cy="2434223"/>
            <a:chOff x="0" y="0"/>
            <a:chExt cx="3023762" cy="9611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23762" cy="961113"/>
            </a:xfrm>
            <a:custGeom>
              <a:avLst/>
              <a:gdLst/>
              <a:ahLst/>
              <a:cxnLst/>
              <a:rect r="r" b="b" t="t" l="l"/>
              <a:pathLst>
                <a:path h="961113" w="3023762">
                  <a:moveTo>
                    <a:pt x="8087" y="0"/>
                  </a:moveTo>
                  <a:lnTo>
                    <a:pt x="3015675" y="0"/>
                  </a:lnTo>
                  <a:cubicBezTo>
                    <a:pt x="3017820" y="0"/>
                    <a:pt x="3019877" y="852"/>
                    <a:pt x="3021394" y="2369"/>
                  </a:cubicBezTo>
                  <a:cubicBezTo>
                    <a:pt x="3022910" y="3885"/>
                    <a:pt x="3023762" y="5942"/>
                    <a:pt x="3023762" y="8087"/>
                  </a:cubicBezTo>
                  <a:lnTo>
                    <a:pt x="3023762" y="953026"/>
                  </a:lnTo>
                  <a:cubicBezTo>
                    <a:pt x="3023762" y="955170"/>
                    <a:pt x="3022910" y="957228"/>
                    <a:pt x="3021394" y="958744"/>
                  </a:cubicBezTo>
                  <a:cubicBezTo>
                    <a:pt x="3019877" y="960261"/>
                    <a:pt x="3017820" y="961113"/>
                    <a:pt x="3015675" y="961113"/>
                  </a:cubicBezTo>
                  <a:lnTo>
                    <a:pt x="8087" y="961113"/>
                  </a:lnTo>
                  <a:cubicBezTo>
                    <a:pt x="5942" y="961113"/>
                    <a:pt x="3885" y="960261"/>
                    <a:pt x="2369" y="958744"/>
                  </a:cubicBezTo>
                  <a:cubicBezTo>
                    <a:pt x="852" y="957228"/>
                    <a:pt x="0" y="955170"/>
                    <a:pt x="0" y="953026"/>
                  </a:cubicBezTo>
                  <a:lnTo>
                    <a:pt x="0" y="8087"/>
                  </a:lnTo>
                  <a:cubicBezTo>
                    <a:pt x="0" y="5942"/>
                    <a:pt x="852" y="3885"/>
                    <a:pt x="2369" y="2369"/>
                  </a:cubicBezTo>
                  <a:cubicBezTo>
                    <a:pt x="3885" y="852"/>
                    <a:pt x="5942" y="0"/>
                    <a:pt x="8087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23762" cy="999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41849" y="7459041"/>
            <a:ext cx="5175767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Javiera Olivares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41849" y="4608188"/>
            <a:ext cx="517576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Nahuel Bustos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1849" y="1518434"/>
            <a:ext cx="5867184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Bastian Cisternas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5332" y="321321"/>
            <a:ext cx="9179504" cy="3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</a:pPr>
            <a:r>
              <a:rPr lang="en-US" sz="3000" spc="-138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Proyecto “Edificio El Mirador”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35504" y="549922"/>
            <a:ext cx="9179504" cy="3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</a:pPr>
            <a:r>
              <a:rPr lang="en-US" b="true" sz="3000" spc="-138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---------------------------------------------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1849" y="2791039"/>
            <a:ext cx="4789001" cy="3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6" indent="-323858" lvl="1">
              <a:lnSpc>
                <a:spcPts val="2700"/>
              </a:lnSpc>
              <a:buFont typeface="Arial"/>
              <a:buChar char="•"/>
            </a:pPr>
            <a:r>
              <a:rPr lang="en-US" b="true" sz="3000" spc="-138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Product Owner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1849" y="5716262"/>
            <a:ext cx="4789001" cy="3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6" indent="-323858" lvl="1">
              <a:lnSpc>
                <a:spcPts val="2700"/>
              </a:lnSpc>
              <a:buFont typeface="Arial"/>
              <a:buChar char="•"/>
            </a:pPr>
            <a:r>
              <a:rPr lang="en-US" b="true" sz="3000" spc="-138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Developer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1849" y="8616645"/>
            <a:ext cx="4789001" cy="38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6" indent="-323858" lvl="1">
              <a:lnSpc>
                <a:spcPts val="2700"/>
              </a:lnSpc>
              <a:buFont typeface="Arial"/>
              <a:buChar char="•"/>
            </a:pPr>
            <a:r>
              <a:rPr lang="en-US" sz="3000" spc="-138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Project Manager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3950" y="1441120"/>
            <a:ext cx="16040100" cy="89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27"/>
              </a:lnSpc>
            </a:pPr>
            <a:r>
              <a:rPr lang="en-US" b="true" sz="7141" spc="-328">
                <a:solidFill>
                  <a:srgbClr val="FBF6F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Descripción y Propuesta de Solución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4801" y="2958361"/>
            <a:ext cx="6253164" cy="5841351"/>
            <a:chOff x="0" y="0"/>
            <a:chExt cx="1394172" cy="130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2889" y="2958361"/>
            <a:ext cx="6253164" cy="5841351"/>
            <a:chOff x="0" y="0"/>
            <a:chExt cx="1394172" cy="1302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652857" y="8084666"/>
            <a:ext cx="5277926" cy="4404669"/>
          </a:xfrm>
          <a:custGeom>
            <a:avLst/>
            <a:gdLst/>
            <a:ahLst/>
            <a:cxnLst/>
            <a:rect r="r" b="b" t="t" l="l"/>
            <a:pathLst>
              <a:path h="4404669" w="5277926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1302276" y="-2956801"/>
            <a:ext cx="4661953" cy="4748285"/>
          </a:xfrm>
          <a:custGeom>
            <a:avLst/>
            <a:gdLst/>
            <a:ahLst/>
            <a:cxnLst/>
            <a:rect r="r" b="b" t="t" l="l"/>
            <a:pathLst>
              <a:path h="4748285" w="4661953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-10800000">
            <a:off x="8458902" y="5170068"/>
            <a:ext cx="1543050" cy="1270747"/>
            <a:chOff x="0" y="0"/>
            <a:chExt cx="647700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50691" y="3552824"/>
            <a:ext cx="4837561" cy="159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50"/>
              </a:lnSpc>
            </a:pPr>
            <a:r>
              <a:rPr lang="en-US" b="true" sz="4500" spc="-20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Problema / Necesidad del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9222" y="3341005"/>
            <a:ext cx="5244321" cy="10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50"/>
              </a:lnSpc>
            </a:pPr>
            <a:r>
              <a:rPr lang="en-US" b="true" sz="4500" spc="-20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Propuesta de Solución de Software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49741" y="5471860"/>
            <a:ext cx="4837561" cy="297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b="true" sz="2126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El edificio “El Mirador” gestiona de manera manual el cobro de los gastos comunes, la atención de solicitudes y reclamos y el control de morosos, generando errores de cálculos, pagos pocos trazables y demoras, perdiendo la confianza de los residentes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72603" y="4729241"/>
            <a:ext cx="4837561" cy="371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b="true" sz="2126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Sistema web que automatiza el cálculo y pago en línea de gastos comunes, el control de morosidad el registro y seguimiento de solicitudes y reclamos y la generación de reportes financieros, lo que aporta transparencia, reduce tiempos de gestión y mejora la comunicación entre los residentes y el personal/administración.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63590" y="4168867"/>
            <a:ext cx="2495883" cy="3757235"/>
            <a:chOff x="0" y="0"/>
            <a:chExt cx="1434614" cy="2159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614" cy="2159629"/>
            </a:xfrm>
            <a:custGeom>
              <a:avLst/>
              <a:gdLst/>
              <a:ahLst/>
              <a:cxnLst/>
              <a:rect r="r" b="b" t="t" l="l"/>
              <a:pathLst>
                <a:path h="2159629" w="1434614">
                  <a:moveTo>
                    <a:pt x="24815" y="0"/>
                  </a:moveTo>
                  <a:lnTo>
                    <a:pt x="1409799" y="0"/>
                  </a:lnTo>
                  <a:cubicBezTo>
                    <a:pt x="1416381" y="0"/>
                    <a:pt x="1422692" y="2614"/>
                    <a:pt x="1427346" y="7268"/>
                  </a:cubicBezTo>
                  <a:cubicBezTo>
                    <a:pt x="1432000" y="11922"/>
                    <a:pt x="1434614" y="18234"/>
                    <a:pt x="1434614" y="24815"/>
                  </a:cubicBezTo>
                  <a:lnTo>
                    <a:pt x="1434614" y="2134814"/>
                  </a:lnTo>
                  <a:cubicBezTo>
                    <a:pt x="1434614" y="2148519"/>
                    <a:pt x="1423504" y="2159629"/>
                    <a:pt x="1409799" y="2159629"/>
                  </a:cubicBezTo>
                  <a:lnTo>
                    <a:pt x="24815" y="2159629"/>
                  </a:lnTo>
                  <a:cubicBezTo>
                    <a:pt x="11110" y="2159629"/>
                    <a:pt x="0" y="2148519"/>
                    <a:pt x="0" y="2134814"/>
                  </a:cubicBezTo>
                  <a:lnTo>
                    <a:pt x="0" y="24815"/>
                  </a:lnTo>
                  <a:cubicBezTo>
                    <a:pt x="0" y="11110"/>
                    <a:pt x="11110" y="0"/>
                    <a:pt x="24815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4614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28729" y="1379275"/>
            <a:ext cx="13856669" cy="12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037"/>
              </a:lnSpc>
            </a:pPr>
            <a:r>
              <a:rPr lang="en-US" sz="10041" spc="-461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Ciclo de vida del software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1299" y="3178141"/>
            <a:ext cx="2255606" cy="3757235"/>
            <a:chOff x="0" y="0"/>
            <a:chExt cx="1296505" cy="21596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6504" cy="2159629"/>
            </a:xfrm>
            <a:custGeom>
              <a:avLst/>
              <a:gdLst/>
              <a:ahLst/>
              <a:cxnLst/>
              <a:rect r="r" b="b" t="t" l="l"/>
              <a:pathLst>
                <a:path h="2159629" w="1296504">
                  <a:moveTo>
                    <a:pt x="27458" y="0"/>
                  </a:moveTo>
                  <a:lnTo>
                    <a:pt x="1269046" y="0"/>
                  </a:lnTo>
                  <a:cubicBezTo>
                    <a:pt x="1284211" y="0"/>
                    <a:pt x="1296504" y="12294"/>
                    <a:pt x="1296504" y="27458"/>
                  </a:cubicBezTo>
                  <a:lnTo>
                    <a:pt x="1296504" y="2132171"/>
                  </a:lnTo>
                  <a:cubicBezTo>
                    <a:pt x="1296504" y="2147336"/>
                    <a:pt x="1284211" y="2159629"/>
                    <a:pt x="1269046" y="2159629"/>
                  </a:cubicBezTo>
                  <a:lnTo>
                    <a:pt x="27458" y="2159629"/>
                  </a:lnTo>
                  <a:cubicBezTo>
                    <a:pt x="12294" y="2159629"/>
                    <a:pt x="0" y="2147336"/>
                    <a:pt x="0" y="2132171"/>
                  </a:cubicBezTo>
                  <a:lnTo>
                    <a:pt x="0" y="27458"/>
                  </a:lnTo>
                  <a:cubicBezTo>
                    <a:pt x="0" y="12294"/>
                    <a:pt x="12294" y="0"/>
                    <a:pt x="27458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96505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49511" y="3125768"/>
            <a:ext cx="2294043" cy="3757235"/>
            <a:chOff x="0" y="0"/>
            <a:chExt cx="1318598" cy="21596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8598" cy="2159629"/>
            </a:xfrm>
            <a:custGeom>
              <a:avLst/>
              <a:gdLst/>
              <a:ahLst/>
              <a:cxnLst/>
              <a:rect r="r" b="b" t="t" l="l"/>
              <a:pathLst>
                <a:path h="2159629" w="1318598">
                  <a:moveTo>
                    <a:pt x="26998" y="0"/>
                  </a:moveTo>
                  <a:lnTo>
                    <a:pt x="1291599" y="0"/>
                  </a:lnTo>
                  <a:cubicBezTo>
                    <a:pt x="1298760" y="0"/>
                    <a:pt x="1305627" y="2844"/>
                    <a:pt x="1310690" y="7908"/>
                  </a:cubicBezTo>
                  <a:cubicBezTo>
                    <a:pt x="1315753" y="12971"/>
                    <a:pt x="1318598" y="19838"/>
                    <a:pt x="1318598" y="26998"/>
                  </a:cubicBezTo>
                  <a:lnTo>
                    <a:pt x="1318598" y="2132631"/>
                  </a:lnTo>
                  <a:cubicBezTo>
                    <a:pt x="1318598" y="2139791"/>
                    <a:pt x="1315753" y="2146659"/>
                    <a:pt x="1310690" y="2151722"/>
                  </a:cubicBezTo>
                  <a:cubicBezTo>
                    <a:pt x="1305627" y="2156785"/>
                    <a:pt x="1298760" y="2159629"/>
                    <a:pt x="1291599" y="2159629"/>
                  </a:cubicBezTo>
                  <a:lnTo>
                    <a:pt x="26998" y="2159629"/>
                  </a:lnTo>
                  <a:cubicBezTo>
                    <a:pt x="19838" y="2159629"/>
                    <a:pt x="12971" y="2156785"/>
                    <a:pt x="7908" y="2151722"/>
                  </a:cubicBezTo>
                  <a:cubicBezTo>
                    <a:pt x="2844" y="2146659"/>
                    <a:pt x="0" y="2139791"/>
                    <a:pt x="0" y="2132631"/>
                  </a:cubicBezTo>
                  <a:lnTo>
                    <a:pt x="0" y="26998"/>
                  </a:lnTo>
                  <a:cubicBezTo>
                    <a:pt x="0" y="19838"/>
                    <a:pt x="2844" y="12971"/>
                    <a:pt x="7908" y="7908"/>
                  </a:cubicBezTo>
                  <a:cubicBezTo>
                    <a:pt x="12971" y="2844"/>
                    <a:pt x="19838" y="0"/>
                    <a:pt x="26998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8598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-512524" y="7173501"/>
            <a:ext cx="4703251" cy="36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98"/>
              </a:lnSpc>
            </a:pPr>
            <a:r>
              <a:rPr lang="en-US" b="true" sz="2998" spc="-13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Planificación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74152" y="4168867"/>
            <a:ext cx="2294043" cy="3757235"/>
            <a:chOff x="0" y="0"/>
            <a:chExt cx="1318598" cy="21596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8598" cy="2159629"/>
            </a:xfrm>
            <a:custGeom>
              <a:avLst/>
              <a:gdLst/>
              <a:ahLst/>
              <a:cxnLst/>
              <a:rect r="r" b="b" t="t" l="l"/>
              <a:pathLst>
                <a:path h="2159629" w="1318598">
                  <a:moveTo>
                    <a:pt x="26998" y="0"/>
                  </a:moveTo>
                  <a:lnTo>
                    <a:pt x="1291599" y="0"/>
                  </a:lnTo>
                  <a:cubicBezTo>
                    <a:pt x="1298760" y="0"/>
                    <a:pt x="1305627" y="2844"/>
                    <a:pt x="1310690" y="7908"/>
                  </a:cubicBezTo>
                  <a:cubicBezTo>
                    <a:pt x="1315753" y="12971"/>
                    <a:pt x="1318598" y="19838"/>
                    <a:pt x="1318598" y="26998"/>
                  </a:cubicBezTo>
                  <a:lnTo>
                    <a:pt x="1318598" y="2132631"/>
                  </a:lnTo>
                  <a:cubicBezTo>
                    <a:pt x="1318598" y="2139791"/>
                    <a:pt x="1315753" y="2146659"/>
                    <a:pt x="1310690" y="2151722"/>
                  </a:cubicBezTo>
                  <a:cubicBezTo>
                    <a:pt x="1305627" y="2156785"/>
                    <a:pt x="1298760" y="2159629"/>
                    <a:pt x="1291599" y="2159629"/>
                  </a:cubicBezTo>
                  <a:lnTo>
                    <a:pt x="26998" y="2159629"/>
                  </a:lnTo>
                  <a:cubicBezTo>
                    <a:pt x="19838" y="2159629"/>
                    <a:pt x="12971" y="2156785"/>
                    <a:pt x="7908" y="2151722"/>
                  </a:cubicBezTo>
                  <a:cubicBezTo>
                    <a:pt x="2844" y="2146659"/>
                    <a:pt x="0" y="2139791"/>
                    <a:pt x="0" y="2132631"/>
                  </a:cubicBezTo>
                  <a:lnTo>
                    <a:pt x="0" y="26998"/>
                  </a:lnTo>
                  <a:cubicBezTo>
                    <a:pt x="0" y="19838"/>
                    <a:pt x="2844" y="12971"/>
                    <a:pt x="7908" y="7908"/>
                  </a:cubicBezTo>
                  <a:cubicBezTo>
                    <a:pt x="12971" y="2844"/>
                    <a:pt x="19838" y="0"/>
                    <a:pt x="26998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18598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22127" y="3587713"/>
            <a:ext cx="1774713" cy="304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7"/>
              </a:lnSpc>
              <a:spcBef>
                <a:spcPct val="0"/>
              </a:spcBef>
            </a:pPr>
            <a:r>
              <a:rPr lang="en-US" sz="217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etapa inicial y crucial donde se definen objetivos, alcance, recursos, costos y tiempos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08048" y="4325249"/>
            <a:ext cx="1774713" cy="325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7"/>
              </a:lnSpc>
              <a:spcBef>
                <a:spcPct val="0"/>
              </a:spcBef>
            </a:pPr>
            <a:r>
              <a:rPr lang="en-US" sz="167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etapa crucial donde se recopilan, estudian y definen detalladamente las necesidades del usuario y los requisitos funcionales/no funcionales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89864" y="3473387"/>
            <a:ext cx="1774713" cy="300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7"/>
              </a:lnSpc>
              <a:spcBef>
                <a:spcPct val="0"/>
              </a:spcBef>
            </a:pPr>
            <a:r>
              <a:rPr lang="en-US" sz="187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Modelamiento, requisitos y arquitectura tecnica del software creacion de diagramas y visualizacion de datos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26847" y="4718863"/>
            <a:ext cx="1774713" cy="281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83"/>
              </a:lnSpc>
              <a:spcBef>
                <a:spcPct val="0"/>
              </a:spcBef>
            </a:pPr>
            <a:r>
              <a:rPr lang="en-US" sz="198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Creacion del codigo del software, programacion e integracion de modulos que lo componen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25778" y="3125768"/>
            <a:ext cx="2294043" cy="3757235"/>
            <a:chOff x="0" y="0"/>
            <a:chExt cx="1318598" cy="21596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8598" cy="2159629"/>
            </a:xfrm>
            <a:custGeom>
              <a:avLst/>
              <a:gdLst/>
              <a:ahLst/>
              <a:cxnLst/>
              <a:rect r="r" b="b" t="t" l="l"/>
              <a:pathLst>
                <a:path h="2159629" w="1318598">
                  <a:moveTo>
                    <a:pt x="26998" y="0"/>
                  </a:moveTo>
                  <a:lnTo>
                    <a:pt x="1291599" y="0"/>
                  </a:lnTo>
                  <a:cubicBezTo>
                    <a:pt x="1298760" y="0"/>
                    <a:pt x="1305627" y="2844"/>
                    <a:pt x="1310690" y="7908"/>
                  </a:cubicBezTo>
                  <a:cubicBezTo>
                    <a:pt x="1315753" y="12971"/>
                    <a:pt x="1318598" y="19838"/>
                    <a:pt x="1318598" y="26998"/>
                  </a:cubicBezTo>
                  <a:lnTo>
                    <a:pt x="1318598" y="2132631"/>
                  </a:lnTo>
                  <a:cubicBezTo>
                    <a:pt x="1318598" y="2139791"/>
                    <a:pt x="1315753" y="2146659"/>
                    <a:pt x="1310690" y="2151722"/>
                  </a:cubicBezTo>
                  <a:cubicBezTo>
                    <a:pt x="1305627" y="2156785"/>
                    <a:pt x="1298760" y="2159629"/>
                    <a:pt x="1291599" y="2159629"/>
                  </a:cubicBezTo>
                  <a:lnTo>
                    <a:pt x="26998" y="2159629"/>
                  </a:lnTo>
                  <a:cubicBezTo>
                    <a:pt x="19838" y="2159629"/>
                    <a:pt x="12971" y="2156785"/>
                    <a:pt x="7908" y="2151722"/>
                  </a:cubicBezTo>
                  <a:cubicBezTo>
                    <a:pt x="2844" y="2146659"/>
                    <a:pt x="0" y="2139791"/>
                    <a:pt x="0" y="2132631"/>
                  </a:cubicBezTo>
                  <a:lnTo>
                    <a:pt x="0" y="26998"/>
                  </a:lnTo>
                  <a:cubicBezTo>
                    <a:pt x="0" y="19838"/>
                    <a:pt x="2844" y="12971"/>
                    <a:pt x="7908" y="7908"/>
                  </a:cubicBezTo>
                  <a:cubicBezTo>
                    <a:pt x="12971" y="2844"/>
                    <a:pt x="19838" y="0"/>
                    <a:pt x="26998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18598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46993" y="4168867"/>
            <a:ext cx="2294043" cy="3757235"/>
            <a:chOff x="0" y="0"/>
            <a:chExt cx="1318598" cy="21596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8598" cy="2159629"/>
            </a:xfrm>
            <a:custGeom>
              <a:avLst/>
              <a:gdLst/>
              <a:ahLst/>
              <a:cxnLst/>
              <a:rect r="r" b="b" t="t" l="l"/>
              <a:pathLst>
                <a:path h="2159629" w="1318598">
                  <a:moveTo>
                    <a:pt x="26998" y="0"/>
                  </a:moveTo>
                  <a:lnTo>
                    <a:pt x="1291599" y="0"/>
                  </a:lnTo>
                  <a:cubicBezTo>
                    <a:pt x="1298760" y="0"/>
                    <a:pt x="1305627" y="2844"/>
                    <a:pt x="1310690" y="7908"/>
                  </a:cubicBezTo>
                  <a:cubicBezTo>
                    <a:pt x="1315753" y="12971"/>
                    <a:pt x="1318598" y="19838"/>
                    <a:pt x="1318598" y="26998"/>
                  </a:cubicBezTo>
                  <a:lnTo>
                    <a:pt x="1318598" y="2132631"/>
                  </a:lnTo>
                  <a:cubicBezTo>
                    <a:pt x="1318598" y="2139791"/>
                    <a:pt x="1315753" y="2146659"/>
                    <a:pt x="1310690" y="2151722"/>
                  </a:cubicBezTo>
                  <a:cubicBezTo>
                    <a:pt x="1305627" y="2156785"/>
                    <a:pt x="1298760" y="2159629"/>
                    <a:pt x="1291599" y="2159629"/>
                  </a:cubicBezTo>
                  <a:lnTo>
                    <a:pt x="26998" y="2159629"/>
                  </a:lnTo>
                  <a:cubicBezTo>
                    <a:pt x="19838" y="2159629"/>
                    <a:pt x="12971" y="2156785"/>
                    <a:pt x="7908" y="2151722"/>
                  </a:cubicBezTo>
                  <a:cubicBezTo>
                    <a:pt x="2844" y="2146659"/>
                    <a:pt x="0" y="2139791"/>
                    <a:pt x="0" y="2132631"/>
                  </a:cubicBezTo>
                  <a:lnTo>
                    <a:pt x="0" y="26998"/>
                  </a:lnTo>
                  <a:cubicBezTo>
                    <a:pt x="0" y="19838"/>
                    <a:pt x="2844" y="12971"/>
                    <a:pt x="7908" y="7908"/>
                  </a:cubicBezTo>
                  <a:cubicBezTo>
                    <a:pt x="12971" y="2844"/>
                    <a:pt x="19838" y="0"/>
                    <a:pt x="26998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18598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663607" y="3125768"/>
            <a:ext cx="2294043" cy="3757235"/>
            <a:chOff x="0" y="0"/>
            <a:chExt cx="1318598" cy="21596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8598" cy="2159629"/>
            </a:xfrm>
            <a:custGeom>
              <a:avLst/>
              <a:gdLst/>
              <a:ahLst/>
              <a:cxnLst/>
              <a:rect r="r" b="b" t="t" l="l"/>
              <a:pathLst>
                <a:path h="2159629" w="1318598">
                  <a:moveTo>
                    <a:pt x="26998" y="0"/>
                  </a:moveTo>
                  <a:lnTo>
                    <a:pt x="1291599" y="0"/>
                  </a:lnTo>
                  <a:cubicBezTo>
                    <a:pt x="1298760" y="0"/>
                    <a:pt x="1305627" y="2844"/>
                    <a:pt x="1310690" y="7908"/>
                  </a:cubicBezTo>
                  <a:cubicBezTo>
                    <a:pt x="1315753" y="12971"/>
                    <a:pt x="1318598" y="19838"/>
                    <a:pt x="1318598" y="26998"/>
                  </a:cubicBezTo>
                  <a:lnTo>
                    <a:pt x="1318598" y="2132631"/>
                  </a:lnTo>
                  <a:cubicBezTo>
                    <a:pt x="1318598" y="2139791"/>
                    <a:pt x="1315753" y="2146659"/>
                    <a:pt x="1310690" y="2151722"/>
                  </a:cubicBezTo>
                  <a:cubicBezTo>
                    <a:pt x="1305627" y="2156785"/>
                    <a:pt x="1298760" y="2159629"/>
                    <a:pt x="1291599" y="2159629"/>
                  </a:cubicBezTo>
                  <a:lnTo>
                    <a:pt x="26998" y="2159629"/>
                  </a:lnTo>
                  <a:cubicBezTo>
                    <a:pt x="19838" y="2159629"/>
                    <a:pt x="12971" y="2156785"/>
                    <a:pt x="7908" y="2151722"/>
                  </a:cubicBezTo>
                  <a:cubicBezTo>
                    <a:pt x="2844" y="2146659"/>
                    <a:pt x="0" y="2139791"/>
                    <a:pt x="0" y="2132631"/>
                  </a:cubicBezTo>
                  <a:lnTo>
                    <a:pt x="0" y="26998"/>
                  </a:lnTo>
                  <a:cubicBezTo>
                    <a:pt x="0" y="19838"/>
                    <a:pt x="2844" y="12971"/>
                    <a:pt x="7908" y="7908"/>
                  </a:cubicBezTo>
                  <a:cubicBezTo>
                    <a:pt x="12971" y="2844"/>
                    <a:pt x="19838" y="0"/>
                    <a:pt x="26998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18598" cy="219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185443" y="3435948"/>
            <a:ext cx="1774713" cy="3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Testing del producto ya en su fase pre entrega correcion de errores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87939" y="4549882"/>
            <a:ext cx="1774713" cy="289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7"/>
              </a:lnSpc>
              <a:spcBef>
                <a:spcPct val="0"/>
              </a:spcBef>
            </a:pPr>
            <a:r>
              <a:rPr lang="en-US" sz="207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Lanzamiento del producto software ya en su fase final, proceso de instalacion al usuario objetivo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55361" y="3776762"/>
            <a:ext cx="1774713" cy="266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3"/>
              </a:lnSpc>
              <a:spcBef>
                <a:spcPct val="0"/>
              </a:spcBef>
            </a:pPr>
            <a:r>
              <a:rPr lang="en-US" sz="1687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Fase de seguimiento del software donde se corriguen errores , se optimiza el sistema y se implementan actualizaciones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02924" y="3654217"/>
            <a:ext cx="4703251" cy="36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98"/>
              </a:lnSpc>
            </a:pPr>
            <a:r>
              <a:rPr lang="en-US" b="true" sz="2998" spc="-13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Análisis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926357" y="7173501"/>
            <a:ext cx="4703251" cy="36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98"/>
              </a:lnSpc>
            </a:pPr>
            <a:r>
              <a:rPr lang="en-US" b="true" sz="2998" spc="-13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Diseño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77982" y="3654217"/>
            <a:ext cx="4703251" cy="6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b="true" sz="2998" spc="-13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Desarrollo</a:t>
            </a:r>
          </a:p>
          <a:p>
            <a:pPr algn="ctr" marL="0" indent="0" lvl="1">
              <a:lnSpc>
                <a:spcPts val="2698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614203" y="7173501"/>
            <a:ext cx="4703251" cy="36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98"/>
              </a:lnSpc>
            </a:pPr>
            <a:r>
              <a:rPr lang="en-US" b="true" sz="2998" spc="-13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Pruebas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04515" y="3693922"/>
            <a:ext cx="3780884" cy="32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38"/>
              </a:lnSpc>
            </a:pPr>
            <a:r>
              <a:rPr lang="en-US" b="true" sz="2598" spc="-119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Implementación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68764" y="7173501"/>
            <a:ext cx="4703251" cy="6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b="true" sz="2998" spc="-13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Mantención</a:t>
            </a:r>
          </a:p>
          <a:p>
            <a:pPr algn="ctr" marL="0" indent="0" lvl="1">
              <a:lnSpc>
                <a:spcPts val="269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97251" y="4028229"/>
            <a:ext cx="5293498" cy="4944885"/>
            <a:chOff x="0" y="0"/>
            <a:chExt cx="1394172" cy="13023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Alcance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•Módulos: residentes, pagos (Webpay), solicitudes/quejas y reportes.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•Perfiles: administrador, residente y personal del edificio.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•Plataforma web responsiva (escritorio y móvil).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Prototipo de alta fidelidad y documentación UML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15665" y="1304925"/>
            <a:ext cx="13856669" cy="239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037"/>
              </a:lnSpc>
            </a:pPr>
            <a:r>
              <a:rPr lang="en-US" b="true" sz="10041" spc="-461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Objetivos, alcance y limitacines del proyecto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028229"/>
            <a:ext cx="5293498" cy="4944885"/>
            <a:chOff x="0" y="0"/>
            <a:chExt cx="1394172" cy="1302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Objetivos específicos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•Automatizar el cálculo y pago en línea de gastos comunes.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•Controlar la morosidad y emitir reportes financieros.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•Registrar y dar seguimiento a solicitudes y reclamos.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Gestionar residentes, unidades y roles de acceso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965802" y="4028229"/>
            <a:ext cx="5293498" cy="4944885"/>
            <a:chOff x="0" y="0"/>
            <a:chExt cx="1394172" cy="13023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172" cy="1302357"/>
            </a:xfrm>
            <a:custGeom>
              <a:avLst/>
              <a:gdLst/>
              <a:ahLst/>
              <a:cxnLst/>
              <a:rect r="r" b="b" t="t" l="l"/>
              <a:pathLst>
                <a:path h="1302357" w="1394172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B9D6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Limitaciones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•Cobertura para edificios de hasta ~160 unidades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•Integración de pago restringida a Webpay.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•No contempla app móvil nativa en esta etapa.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6447" y="873190"/>
            <a:ext cx="11613314" cy="4514676"/>
          </a:xfrm>
          <a:custGeom>
            <a:avLst/>
            <a:gdLst/>
            <a:ahLst/>
            <a:cxnLst/>
            <a:rect r="r" b="b" t="t" l="l"/>
            <a:pathLst>
              <a:path h="4514676" w="11613314">
                <a:moveTo>
                  <a:pt x="0" y="0"/>
                </a:moveTo>
                <a:lnTo>
                  <a:pt x="11613314" y="0"/>
                </a:lnTo>
                <a:lnTo>
                  <a:pt x="11613314" y="4514676"/>
                </a:lnTo>
                <a:lnTo>
                  <a:pt x="0" y="4514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36447" y="5387866"/>
            <a:ext cx="11613314" cy="4797751"/>
          </a:xfrm>
          <a:custGeom>
            <a:avLst/>
            <a:gdLst/>
            <a:ahLst/>
            <a:cxnLst/>
            <a:rect r="r" b="b" t="t" l="l"/>
            <a:pathLst>
              <a:path h="4797751" w="11613314">
                <a:moveTo>
                  <a:pt x="0" y="0"/>
                </a:moveTo>
                <a:lnTo>
                  <a:pt x="11613314" y="0"/>
                </a:lnTo>
                <a:lnTo>
                  <a:pt x="11613314" y="4797750"/>
                </a:lnTo>
                <a:lnTo>
                  <a:pt x="0" y="4797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13619" y="256596"/>
            <a:ext cx="15438748" cy="48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509"/>
              </a:lnSpc>
            </a:pPr>
            <a:r>
              <a:rPr lang="en-US" b="true" sz="3899" spc="-179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Planificación del proyecto (EDT + Carta Gantt)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372" y="8084666"/>
            <a:ext cx="5277926" cy="4404669"/>
          </a:xfrm>
          <a:custGeom>
            <a:avLst/>
            <a:gdLst/>
            <a:ahLst/>
            <a:cxnLst/>
            <a:rect r="r" b="b" t="t" l="l"/>
            <a:pathLst>
              <a:path h="4404669" w="5277926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302276" y="-2383108"/>
            <a:ext cx="4661953" cy="4748285"/>
          </a:xfrm>
          <a:custGeom>
            <a:avLst/>
            <a:gdLst/>
            <a:ahLst/>
            <a:cxnLst/>
            <a:rect r="r" b="b" t="t" l="l"/>
            <a:pathLst>
              <a:path h="4748285" w="4661953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662531" y="3023862"/>
            <a:ext cx="14962938" cy="467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37"/>
              </a:lnSpc>
            </a:pPr>
            <a:r>
              <a:rPr lang="en-US" b="true" sz="10041" spc="-461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ARQUITECTURA DE SOFTWARE - MODELO 4+1 (UML)</a:t>
            </a:r>
          </a:p>
          <a:p>
            <a:pPr algn="ctr" marL="0" indent="0" lvl="1">
              <a:lnSpc>
                <a:spcPts val="903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772" y="543560"/>
            <a:ext cx="7007983" cy="4653264"/>
          </a:xfrm>
          <a:custGeom>
            <a:avLst/>
            <a:gdLst/>
            <a:ahLst/>
            <a:cxnLst/>
            <a:rect r="r" b="b" t="t" l="l"/>
            <a:pathLst>
              <a:path h="4653264" w="7007983">
                <a:moveTo>
                  <a:pt x="0" y="0"/>
                </a:moveTo>
                <a:lnTo>
                  <a:pt x="7007983" y="0"/>
                </a:lnTo>
                <a:lnTo>
                  <a:pt x="7007983" y="4653264"/>
                </a:lnTo>
                <a:lnTo>
                  <a:pt x="0" y="465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69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08406" y="980148"/>
            <a:ext cx="6521679" cy="7110361"/>
          </a:xfrm>
          <a:custGeom>
            <a:avLst/>
            <a:gdLst/>
            <a:ahLst/>
            <a:cxnLst/>
            <a:rect r="r" b="b" t="t" l="l"/>
            <a:pathLst>
              <a:path h="7110361" w="6521679">
                <a:moveTo>
                  <a:pt x="0" y="0"/>
                </a:moveTo>
                <a:lnTo>
                  <a:pt x="6521678" y="0"/>
                </a:lnTo>
                <a:lnTo>
                  <a:pt x="6521678" y="7110361"/>
                </a:lnTo>
                <a:lnTo>
                  <a:pt x="0" y="711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772" y="5583741"/>
            <a:ext cx="6436689" cy="5013538"/>
          </a:xfrm>
          <a:custGeom>
            <a:avLst/>
            <a:gdLst/>
            <a:ahLst/>
            <a:cxnLst/>
            <a:rect r="r" b="b" t="t" l="l"/>
            <a:pathLst>
              <a:path h="5013538" w="6436689">
                <a:moveTo>
                  <a:pt x="0" y="0"/>
                </a:moveTo>
                <a:lnTo>
                  <a:pt x="6436690" y="0"/>
                </a:lnTo>
                <a:lnTo>
                  <a:pt x="6436690" y="5013537"/>
                </a:lnTo>
                <a:lnTo>
                  <a:pt x="0" y="5013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2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4301" y="233680"/>
            <a:ext cx="75652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caso de uso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84306" y="429260"/>
            <a:ext cx="1543874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caso de uso medio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301" y="5269415"/>
            <a:ext cx="818081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caso de uso especifico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1069" y="-57150"/>
            <a:ext cx="338586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VISTA ESCENARIO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2437" y="5210175"/>
            <a:ext cx="2794494" cy="237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912" spc="-133" b="true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Qué hace el sistema según cada actor (residente, personal, administrador).</a:t>
            </a:r>
          </a:p>
          <a:p>
            <a:pPr algn="l" marL="0" indent="0" lvl="1">
              <a:lnSpc>
                <a:spcPts val="262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6108" y="1724509"/>
            <a:ext cx="10853166" cy="7684358"/>
          </a:xfrm>
          <a:custGeom>
            <a:avLst/>
            <a:gdLst/>
            <a:ahLst/>
            <a:cxnLst/>
            <a:rect r="r" b="b" t="t" l="l"/>
            <a:pathLst>
              <a:path h="7684358" w="10853166">
                <a:moveTo>
                  <a:pt x="0" y="0"/>
                </a:moveTo>
                <a:lnTo>
                  <a:pt x="10853166" y="0"/>
                </a:lnTo>
                <a:lnTo>
                  <a:pt x="10853166" y="7684359"/>
                </a:lnTo>
                <a:lnTo>
                  <a:pt x="0" y="7684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1428" y="1457809"/>
            <a:ext cx="75652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de clases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51069" y="-57150"/>
            <a:ext cx="338586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VISTA LÓGICA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24145" y="4684309"/>
            <a:ext cx="3017639" cy="1840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3144" spc="-144" b="true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Estructura de clases, atributos y relaciones del dominio.</a:t>
            </a:r>
          </a:p>
          <a:p>
            <a:pPr algn="l" marL="0" indent="0" lvl="1">
              <a:lnSpc>
                <a:spcPts val="283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640" y="1570597"/>
            <a:ext cx="10126273" cy="8128573"/>
          </a:xfrm>
          <a:custGeom>
            <a:avLst/>
            <a:gdLst/>
            <a:ahLst/>
            <a:cxnLst/>
            <a:rect r="r" b="b" t="t" l="l"/>
            <a:pathLst>
              <a:path h="8128573" w="10126273">
                <a:moveTo>
                  <a:pt x="0" y="0"/>
                </a:moveTo>
                <a:lnTo>
                  <a:pt x="10126273" y="0"/>
                </a:lnTo>
                <a:lnTo>
                  <a:pt x="10126273" y="8128573"/>
                </a:lnTo>
                <a:lnTo>
                  <a:pt x="0" y="8128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3776" y="-57150"/>
            <a:ext cx="484044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VISTA DESARROLO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0640" y="1303897"/>
            <a:ext cx="75652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de componentes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87157" y="4548659"/>
            <a:ext cx="3875644" cy="210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b="true" sz="3001" spc="-138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</a:t>
            </a:r>
            <a:r>
              <a:rPr lang="en-US" b="true" sz="3001" spc="-138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rganización del software en</a:t>
            </a:r>
          </a:p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b="true" sz="3001" spc="-138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componentes y microservicios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0519" y="2076743"/>
            <a:ext cx="8001167" cy="8210257"/>
          </a:xfrm>
          <a:custGeom>
            <a:avLst/>
            <a:gdLst/>
            <a:ahLst/>
            <a:cxnLst/>
            <a:rect r="r" b="b" t="t" l="l"/>
            <a:pathLst>
              <a:path h="8210257" w="8001167">
                <a:moveTo>
                  <a:pt x="0" y="0"/>
                </a:moveTo>
                <a:lnTo>
                  <a:pt x="8001167" y="0"/>
                </a:lnTo>
                <a:lnTo>
                  <a:pt x="8001167" y="8210257"/>
                </a:lnTo>
                <a:lnTo>
                  <a:pt x="0" y="821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51240" y="-57150"/>
            <a:ext cx="458552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VISTA PROCESO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60519" y="1810043"/>
            <a:ext cx="75652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de actividad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90430" y="4845466"/>
            <a:ext cx="4555332" cy="169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4"/>
              </a:lnSpc>
              <a:spcBef>
                <a:spcPct val="0"/>
              </a:spcBef>
            </a:pPr>
            <a:r>
              <a:rPr lang="en-US" b="true" sz="3217" spc="-14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Compo</a:t>
            </a:r>
            <a:r>
              <a:rPr lang="en-US" b="true" sz="3217" spc="-147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rtamiento dinámico del flujo de solicitudes/reclamos.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54156" y="2949795"/>
            <a:ext cx="11979688" cy="4387411"/>
          </a:xfrm>
          <a:custGeom>
            <a:avLst/>
            <a:gdLst/>
            <a:ahLst/>
            <a:cxnLst/>
            <a:rect r="r" b="b" t="t" l="l"/>
            <a:pathLst>
              <a:path h="4387411" w="11979688">
                <a:moveTo>
                  <a:pt x="0" y="0"/>
                </a:moveTo>
                <a:lnTo>
                  <a:pt x="11979688" y="0"/>
                </a:lnTo>
                <a:lnTo>
                  <a:pt x="11979688" y="4387410"/>
                </a:lnTo>
                <a:lnTo>
                  <a:pt x="0" y="4387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51240" y="-57150"/>
            <a:ext cx="458552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VISTA FÍSICA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54156" y="2683094"/>
            <a:ext cx="75652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800"/>
              </a:lnSpc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Diagrama de despliegue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65579" y="8309052"/>
            <a:ext cx="235684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Inf</a:t>
            </a:r>
            <a:r>
              <a:rPr lang="en-US" b="true" sz="2000" spc="-9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raestructura, nodos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0505" y="2410656"/>
            <a:ext cx="17373119" cy="7068688"/>
          </a:xfrm>
          <a:custGeom>
            <a:avLst/>
            <a:gdLst/>
            <a:ahLst/>
            <a:cxnLst/>
            <a:rect r="r" b="b" t="t" l="l"/>
            <a:pathLst>
              <a:path h="7068688" w="17373119">
                <a:moveTo>
                  <a:pt x="0" y="0"/>
                </a:moveTo>
                <a:lnTo>
                  <a:pt x="17373119" y="0"/>
                </a:lnTo>
                <a:lnTo>
                  <a:pt x="17373119" y="7068687"/>
                </a:lnTo>
                <a:lnTo>
                  <a:pt x="0" y="7068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274" y="4020047"/>
            <a:ext cx="324230" cy="402134"/>
          </a:xfrm>
          <a:custGeom>
            <a:avLst/>
            <a:gdLst/>
            <a:ahLst/>
            <a:cxnLst/>
            <a:rect r="r" b="b" t="t" l="l"/>
            <a:pathLst>
              <a:path h="402134" w="324230">
                <a:moveTo>
                  <a:pt x="0" y="0"/>
                </a:moveTo>
                <a:lnTo>
                  <a:pt x="324231" y="0"/>
                </a:lnTo>
                <a:lnTo>
                  <a:pt x="324231" y="402134"/>
                </a:lnTo>
                <a:lnTo>
                  <a:pt x="0" y="402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3464"/>
            <a:ext cx="15768236" cy="255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8"/>
              </a:lnSpc>
            </a:pPr>
            <a:r>
              <a:rPr lang="en-US" sz="7198" spc="-331" b="true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REQUISITOS FUNCIONALES Y NO FUNCIONALES</a:t>
            </a:r>
          </a:p>
          <a:p>
            <a:pPr algn="l" marL="0" indent="0" lvl="1">
              <a:lnSpc>
                <a:spcPts val="647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6274" y="4422181"/>
            <a:ext cx="324230" cy="402134"/>
          </a:xfrm>
          <a:custGeom>
            <a:avLst/>
            <a:gdLst/>
            <a:ahLst/>
            <a:cxnLst/>
            <a:rect r="r" b="b" t="t" l="l"/>
            <a:pathLst>
              <a:path h="402134" w="324230">
                <a:moveTo>
                  <a:pt x="0" y="0"/>
                </a:moveTo>
                <a:lnTo>
                  <a:pt x="324231" y="0"/>
                </a:lnTo>
                <a:lnTo>
                  <a:pt x="324231" y="402134"/>
                </a:lnTo>
                <a:lnTo>
                  <a:pt x="0" y="402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6274" y="4824315"/>
            <a:ext cx="324230" cy="402134"/>
          </a:xfrm>
          <a:custGeom>
            <a:avLst/>
            <a:gdLst/>
            <a:ahLst/>
            <a:cxnLst/>
            <a:rect r="r" b="b" t="t" l="l"/>
            <a:pathLst>
              <a:path h="402134" w="324230">
                <a:moveTo>
                  <a:pt x="0" y="0"/>
                </a:moveTo>
                <a:lnTo>
                  <a:pt x="324231" y="0"/>
                </a:lnTo>
                <a:lnTo>
                  <a:pt x="324231" y="402134"/>
                </a:lnTo>
                <a:lnTo>
                  <a:pt x="0" y="402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6274" y="5226449"/>
            <a:ext cx="324230" cy="402134"/>
          </a:xfrm>
          <a:custGeom>
            <a:avLst/>
            <a:gdLst/>
            <a:ahLst/>
            <a:cxnLst/>
            <a:rect r="r" b="b" t="t" l="l"/>
            <a:pathLst>
              <a:path h="402134" w="324230">
                <a:moveTo>
                  <a:pt x="0" y="0"/>
                </a:moveTo>
                <a:lnTo>
                  <a:pt x="324231" y="0"/>
                </a:lnTo>
                <a:lnTo>
                  <a:pt x="324231" y="402134"/>
                </a:lnTo>
                <a:lnTo>
                  <a:pt x="0" y="402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6274" y="9057233"/>
            <a:ext cx="324230" cy="402134"/>
          </a:xfrm>
          <a:custGeom>
            <a:avLst/>
            <a:gdLst/>
            <a:ahLst/>
            <a:cxnLst/>
            <a:rect r="r" b="b" t="t" l="l"/>
            <a:pathLst>
              <a:path h="402134" w="324230">
                <a:moveTo>
                  <a:pt x="0" y="0"/>
                </a:moveTo>
                <a:lnTo>
                  <a:pt x="324231" y="0"/>
                </a:lnTo>
                <a:lnTo>
                  <a:pt x="324231" y="402134"/>
                </a:lnTo>
                <a:lnTo>
                  <a:pt x="0" y="402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0697" y="3442306"/>
            <a:ext cx="17907303" cy="3402387"/>
          </a:xfrm>
          <a:custGeom>
            <a:avLst/>
            <a:gdLst/>
            <a:ahLst/>
            <a:cxnLst/>
            <a:rect r="r" b="b" t="t" l="l"/>
            <a:pathLst>
              <a:path h="3402387" w="17907303">
                <a:moveTo>
                  <a:pt x="0" y="0"/>
                </a:moveTo>
                <a:lnTo>
                  <a:pt x="17907303" y="0"/>
                </a:lnTo>
                <a:lnTo>
                  <a:pt x="17907303" y="3402388"/>
                </a:lnTo>
                <a:lnTo>
                  <a:pt x="0" y="340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8510" y="7009448"/>
            <a:ext cx="13687912" cy="2248852"/>
          </a:xfrm>
          <a:custGeom>
            <a:avLst/>
            <a:gdLst/>
            <a:ahLst/>
            <a:cxnLst/>
            <a:rect r="r" b="b" t="t" l="l"/>
            <a:pathLst>
              <a:path h="2248852" w="13687912">
                <a:moveTo>
                  <a:pt x="0" y="0"/>
                </a:moveTo>
                <a:lnTo>
                  <a:pt x="13687912" y="0"/>
                </a:lnTo>
                <a:lnTo>
                  <a:pt x="13687912" y="2248852"/>
                </a:lnTo>
                <a:lnTo>
                  <a:pt x="0" y="22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06" r="0" b="-23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8510" y="4023163"/>
            <a:ext cx="13687912" cy="2344055"/>
          </a:xfrm>
          <a:custGeom>
            <a:avLst/>
            <a:gdLst/>
            <a:ahLst/>
            <a:cxnLst/>
            <a:rect r="r" b="b" t="t" l="l"/>
            <a:pathLst>
              <a:path h="2344055" w="13687912">
                <a:moveTo>
                  <a:pt x="0" y="0"/>
                </a:moveTo>
                <a:lnTo>
                  <a:pt x="13687912" y="0"/>
                </a:lnTo>
                <a:lnTo>
                  <a:pt x="13687912" y="2344055"/>
                </a:lnTo>
                <a:lnTo>
                  <a:pt x="0" y="2344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476" y="1261812"/>
            <a:ext cx="16837981" cy="239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b="true" sz="10041" spc="-461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ESTANDARES DE CALIDAD - ISO/IEC 25010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B9D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8894" y="1856326"/>
            <a:ext cx="8323627" cy="353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b="true" sz="10041" spc="-461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Demostración prototipo de alta fidelidad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8894" y="5734480"/>
            <a:ext cx="9554743" cy="83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392" b="true">
                <a:solidFill>
                  <a:srgbClr val="2E4D99"/>
                </a:solidFill>
                <a:latin typeface="Raleway Bold"/>
                <a:ea typeface="Raleway Bold"/>
                <a:cs typeface="Raleway Bold"/>
                <a:sym typeface="Raleway Bold"/>
              </a:rPr>
              <a:t>•https://effect-gem-04839943.figma.site</a:t>
            </a:r>
          </a:p>
          <a:p>
            <a:pPr algn="l">
              <a:lnSpc>
                <a:spcPts val="334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596506"/>
            <a:ext cx="7633289" cy="376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•Requisitos implementados</a:t>
            </a: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::</a:t>
            </a:r>
          </a:p>
          <a:p>
            <a:pPr algn="l">
              <a:lnSpc>
                <a:spcPts val="3349"/>
              </a:lnSpc>
            </a:pP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•RF-04 Autenticación por roles y</a:t>
            </a: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 RF-09 registro de solicitudes.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•RF-11</a:t>
            </a: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 aviso de estado del reclamo (En proceso / Cerrado).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•RNF-03 usabilidad y RNF-06 diseño responsivo.</a:t>
            </a:r>
          </a:p>
          <a:p>
            <a:pPr algn="l">
              <a:lnSpc>
                <a:spcPts val="3349"/>
              </a:lnSpc>
            </a:pPr>
          </a:p>
          <a:p>
            <a:pPr algn="l">
              <a:lnSpc>
                <a:spcPts val="33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2021" y="2397622"/>
            <a:ext cx="11623958" cy="6716674"/>
          </a:xfrm>
          <a:custGeom>
            <a:avLst/>
            <a:gdLst/>
            <a:ahLst/>
            <a:cxnLst/>
            <a:rect r="r" b="b" t="t" l="l"/>
            <a:pathLst>
              <a:path h="6716674" w="11623958">
                <a:moveTo>
                  <a:pt x="0" y="0"/>
                </a:moveTo>
                <a:lnTo>
                  <a:pt x="11623958" y="0"/>
                </a:lnTo>
                <a:lnTo>
                  <a:pt x="11623958" y="6716674"/>
                </a:lnTo>
                <a:lnTo>
                  <a:pt x="0" y="671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86180" y="273547"/>
            <a:ext cx="135156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6000" spc="-276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HEURISTICA DE NIELSEN Y CASOS DE PRUEBA (ISO25000)</a:t>
            </a:r>
          </a:p>
          <a:p>
            <a:pPr algn="ctr" marL="0" indent="0" lvl="1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8874" y="620666"/>
            <a:ext cx="10012814" cy="9045667"/>
          </a:xfrm>
          <a:custGeom>
            <a:avLst/>
            <a:gdLst/>
            <a:ahLst/>
            <a:cxnLst/>
            <a:rect r="r" b="b" t="t" l="l"/>
            <a:pathLst>
              <a:path h="9045667" w="10012814">
                <a:moveTo>
                  <a:pt x="0" y="0"/>
                </a:moveTo>
                <a:lnTo>
                  <a:pt x="10012814" y="0"/>
                </a:lnTo>
                <a:lnTo>
                  <a:pt x="10012814" y="9045668"/>
                </a:lnTo>
                <a:lnTo>
                  <a:pt x="0" y="904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849730" y="3819525"/>
            <a:ext cx="3937927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6000" spc="-276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REGISTRO DE CASOS DE PRUEBA</a:t>
            </a:r>
          </a:p>
          <a:p>
            <a:pPr algn="ctr" marL="0" indent="0" lvl="1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618" y="2854639"/>
            <a:ext cx="12807004" cy="5162105"/>
          </a:xfrm>
          <a:custGeom>
            <a:avLst/>
            <a:gdLst/>
            <a:ahLst/>
            <a:cxnLst/>
            <a:rect r="r" b="b" t="t" l="l"/>
            <a:pathLst>
              <a:path h="5162105" w="12807004">
                <a:moveTo>
                  <a:pt x="0" y="0"/>
                </a:moveTo>
                <a:lnTo>
                  <a:pt x="12807004" y="0"/>
                </a:lnTo>
                <a:lnTo>
                  <a:pt x="12807004" y="5162106"/>
                </a:lnTo>
                <a:lnTo>
                  <a:pt x="0" y="5162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7" r="0" b="-2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0618" y="807762"/>
            <a:ext cx="7540509" cy="146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27"/>
              </a:lnSpc>
            </a:pPr>
            <a:r>
              <a:rPr lang="en-US" b="true" sz="6141" spc="-28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CONTROL DE VERSIONES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0618" y="807762"/>
            <a:ext cx="7540509" cy="146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27"/>
              </a:lnSpc>
            </a:pPr>
            <a:r>
              <a:rPr lang="en-US" b="true" sz="6141" spc="-282">
                <a:solidFill>
                  <a:srgbClr val="2E4D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ACCIONES DE MEJORA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4748" y="3802027"/>
            <a:ext cx="16178042" cy="382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Acciones de mejora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•Confirmación visible al enviar</a:t>
            </a: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 un reclamo (estado ‘Enviado’).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•Est</a:t>
            </a: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ados diferenciados por color (En Proceso / Cerrado).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•Opción de mostrar/ocultar contraseña en el login.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•Historial de reclamos con número de caso y fecha.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2E4D99"/>
                </a:solidFill>
                <a:latin typeface="Raleway"/>
                <a:ea typeface="Raleway"/>
                <a:cs typeface="Raleway"/>
                <a:sym typeface="Raleway"/>
              </a:rPr>
              <a:t>•Registro de cambios por versión para trazabilidad.</a:t>
            </a:r>
          </a:p>
          <a:p>
            <a:pPr algn="l">
              <a:lnSpc>
                <a:spcPts val="43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38041" y="-783256"/>
            <a:ext cx="11853512" cy="11853512"/>
          </a:xfrm>
          <a:custGeom>
            <a:avLst/>
            <a:gdLst/>
            <a:ahLst/>
            <a:cxnLst/>
            <a:rect r="r" b="b" t="t" l="l"/>
            <a:pathLst>
              <a:path h="11853512" w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04381" y="1347635"/>
            <a:ext cx="7453699" cy="7591730"/>
          </a:xfrm>
          <a:custGeom>
            <a:avLst/>
            <a:gdLst/>
            <a:ahLst/>
            <a:cxnLst/>
            <a:rect r="r" b="b" t="t" l="l"/>
            <a:pathLst>
              <a:path h="7591730" w="7453699">
                <a:moveTo>
                  <a:pt x="0" y="0"/>
                </a:moveTo>
                <a:lnTo>
                  <a:pt x="7453699" y="0"/>
                </a:lnTo>
                <a:lnTo>
                  <a:pt x="7453699" y="7591730"/>
                </a:lnTo>
                <a:lnTo>
                  <a:pt x="0" y="7591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219200" y="3287915"/>
            <a:ext cx="8530174" cy="399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130"/>
              </a:lnSpc>
            </a:pPr>
            <a:r>
              <a:rPr lang="en-US" b="true" sz="16811" spc="-773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DAHNWqgZA4k</dc:identifier>
  <dcterms:modified xsi:type="dcterms:W3CDTF">2011-08-01T06:04:30Z</dcterms:modified>
  <cp:revision>1</cp:revision>
  <dc:title>01_Presentacion_Final</dc:title>
</cp:coreProperties>
</file>